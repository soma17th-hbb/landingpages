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10B8FB-AAEF-F7E2-E4C8-078A1A3DE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0F80797-7515-95B8-D70B-A715EA2DD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C8B8CA-FD7E-6059-667F-D7DA1E6D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D17B-42A5-471B-B2BA-BA9BDDA00BF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2BB4CE-D9EC-9812-D7BF-BCDBE9C0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4760D4-7AF2-562D-B9D1-44B52AF2B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772E4-A27B-4035-9903-48E5ED65FE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62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05A29-FD69-8302-6155-D3D67B3A3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C5011B-6F3D-BF89-72DD-B934AF2E5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1D6035-50BD-8BE4-1D9A-3A10B5A0A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D17B-42A5-471B-B2BA-BA9BDDA00BF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E6008D-F004-E673-71C3-214F4921D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1AEF8-BC90-F225-AE90-A6F115B97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772E4-A27B-4035-9903-48E5ED65FE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191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2C752-E574-BB5C-34AC-A7C773769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9B8067-14D7-75C6-44AE-204B2CE4A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1B1B25-A221-A6D4-EBFA-B84ECBBA0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D17B-42A5-471B-B2BA-BA9BDDA00BF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5DDFC5-3E97-825C-5DCB-DB3BF1CE5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1995BB-2226-BDF2-8018-E4C0E9793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772E4-A27B-4035-9903-48E5ED65FE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286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097C42-812B-F874-7C0D-9659F6BC1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54850-F1EB-45C1-1E9D-9F059F53F0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BCF122-70E7-2092-E1EB-D9E470C69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F3ACC3-3FEA-A7C8-5809-82585ADE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D17B-42A5-471B-B2BA-BA9BDDA00BF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7749DD-33E6-4AC6-7900-626B22E6C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BF31FE-1176-205C-F8D2-AE638EBC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772E4-A27B-4035-9903-48E5ED65FE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4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7EFDB6-12DF-B7CF-2BC4-BB32E807E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AF642C-25FB-29B9-33D3-3ACCF30F7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9A1123-7CDD-9C44-300D-BEA54B994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E97258-6EC3-EDA2-1ABA-604C104156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0FDB99A-D7F4-B0E4-EC6A-3B164E5DBB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4B5B052-3AF2-2C88-F7DE-A950EB71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D17B-42A5-471B-B2BA-BA9BDDA00BF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7284473-2C22-22C1-8D0B-B59D5B67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6EAE74-9B4B-4FD2-59B3-45FD214CD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772E4-A27B-4035-9903-48E5ED65FE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250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D5F6A-90D8-B7F7-C7F1-D7716B6E0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9650CE-8600-8DA2-6B0D-030A2FB6B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D17B-42A5-471B-B2BA-BA9BDDA00BF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9C5042-0E44-1BCE-A0C2-EA7DCDD54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7DF499-4D11-3B86-0E0D-5E22C84DD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772E4-A27B-4035-9903-48E5ED65FE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70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9DA3A6-1263-2480-18F9-CE2327202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D17B-42A5-471B-B2BA-BA9BDDA00BF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C11F1B-1012-8137-945D-54167FE5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4883E0-0E7B-C9DC-88E6-70FA9AF69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772E4-A27B-4035-9903-48E5ED65FE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386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ADBCA-E577-5AEA-3BA3-0A2AFA842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E68EAD-3DF0-6A45-4A49-5B69AEA4F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B4CFB2-757E-21DB-2604-67988BC0D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F7870E-7818-9E54-573E-08081EBD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D17B-42A5-471B-B2BA-BA9BDDA00BF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0AC06C-617B-5517-8E23-0F4457561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40AF20-1A82-E24F-470C-ABD19EFE1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772E4-A27B-4035-9903-48E5ED65FE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25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9DD237-AA00-8C69-261C-CFA72B8B5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9D88D0-CAB9-4FCD-71D7-EEC90ABD1F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7FB851-5D4A-683A-2D46-9D2FB47AC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57D74C-6FC7-5AAF-9AAA-93148DBEA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D17B-42A5-471B-B2BA-BA9BDDA00BF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6194F9-FA2E-824A-05F4-2750708DB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8484E4-003D-875A-0E97-F2A13C698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772E4-A27B-4035-9903-48E5ED65FE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873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1593EC-F6FF-45A7-B0BF-AFD03678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9F6BF9-5A4D-408C-C4E9-763816A6A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661EFB-0A9B-F50E-6779-B52B5E998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D17B-42A5-471B-B2BA-BA9BDDA00BF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DF38F8-90F7-2F51-C9FC-10DB8D371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F32AF0-512C-551D-4E66-726C37AAA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772E4-A27B-4035-9903-48E5ED65FE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632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1B2FC4-3C68-3E6D-A3EE-B5C6DD9F62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881F91-C49A-6441-8033-DEBF42CB3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B28C71-AD69-B1A6-4B05-CEC37F9E5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D17B-42A5-471B-B2BA-BA9BDDA00BF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B4C83F-64DE-0FEE-0156-471F69D39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A95E7B-85D3-313A-71CC-AFBD678C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772E4-A27B-4035-9903-48E5ED65FE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10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E74434-1FA6-1105-674E-2BD7A4C4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B7B54D-A408-16CE-C067-5E6F0C59D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BD33B8-FD04-D158-CA7C-86BB96182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CD17B-42A5-471B-B2BA-BA9BDDA00BFB}" type="datetimeFigureOut">
              <a:rPr lang="ko-KR" altLang="en-US" smtClean="0"/>
              <a:t>2026-05-04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9E74EA-3A36-F353-DF78-299F4296C4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014341-C6A0-05FC-A587-B73BCBDC8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D772E4-A27B-4035-9903-48E5ED65FE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69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1C56B97-EE68-F769-CC8F-A2F35F618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9591" y="233516"/>
            <a:ext cx="12591182" cy="6390968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8B9DFB6-6CEF-C409-40D5-5EF201AB2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548" y="145732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4701B6-8609-C154-B33F-82594E84C92A}"/>
              </a:ext>
            </a:extLst>
          </p:cNvPr>
          <p:cNvSpPr txBox="1"/>
          <p:nvPr/>
        </p:nvSpPr>
        <p:spPr>
          <a:xfrm>
            <a:off x="432618" y="1005550"/>
            <a:ext cx="202544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수화 기반 회의는 기록</a:t>
            </a:r>
            <a:r>
              <a:rPr lang="en-US" altLang="ko-KR" sz="800" dirty="0"/>
              <a:t>·</a:t>
            </a:r>
            <a:r>
              <a:rPr lang="ko-KR" altLang="en-US" sz="800" dirty="0"/>
              <a:t>검색</a:t>
            </a:r>
            <a:r>
              <a:rPr lang="en-US" altLang="ko-KR" sz="800" dirty="0"/>
              <a:t>·</a:t>
            </a:r>
            <a:r>
              <a:rPr lang="ko-KR" altLang="en-US" sz="800" dirty="0"/>
              <a:t>재사용이 거의 불가능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 err="1"/>
              <a:t>수어</a:t>
            </a:r>
            <a:r>
              <a:rPr lang="ko-KR" altLang="en-US" sz="800" dirty="0"/>
              <a:t> 통역은 “</a:t>
            </a:r>
            <a:r>
              <a:rPr lang="ko-KR" altLang="en-US" sz="800" dirty="0" err="1"/>
              <a:t>전달”만</a:t>
            </a:r>
            <a:r>
              <a:rPr lang="ko-KR" altLang="en-US" sz="800" dirty="0"/>
              <a:t> 되고 데이터로 남지 않음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회의 이후</a:t>
            </a:r>
            <a:r>
              <a:rPr lang="en-US" altLang="ko-KR" sz="800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ko-KR" altLang="en-US" sz="800" dirty="0"/>
              <a:t>의사결정 근거 불명확</a:t>
            </a:r>
            <a:endParaRPr lang="en-US" altLang="ko-KR" sz="800" dirty="0"/>
          </a:p>
          <a:p>
            <a:pPr marL="628650" lvl="1" indent="-171450">
              <a:buFontTx/>
              <a:buChar char="-"/>
            </a:pPr>
            <a:r>
              <a:rPr lang="ko-KR" altLang="en-US" sz="800" dirty="0"/>
              <a:t>책임 추적 어려움</a:t>
            </a:r>
            <a:endParaRPr lang="en-US" altLang="ko-KR" sz="800" dirty="0"/>
          </a:p>
          <a:p>
            <a:pPr marL="171450" indent="-171450">
              <a:buFontTx/>
              <a:buChar char="-"/>
            </a:pPr>
            <a:r>
              <a:rPr lang="ko-KR" altLang="en-US" sz="800" dirty="0"/>
              <a:t>수화 특성상</a:t>
            </a:r>
            <a:r>
              <a:rPr lang="en-US" altLang="ko-KR" sz="800" dirty="0"/>
              <a:t>:</a:t>
            </a:r>
          </a:p>
          <a:p>
            <a:pPr marL="628650" lvl="1" indent="-171450">
              <a:buFontTx/>
              <a:buChar char="-"/>
            </a:pPr>
            <a:r>
              <a:rPr lang="ko-KR" altLang="en-US" sz="800" dirty="0"/>
              <a:t>강조</a:t>
            </a:r>
            <a:r>
              <a:rPr lang="en-US" altLang="ko-KR" sz="800" dirty="0"/>
              <a:t>/</a:t>
            </a:r>
            <a:r>
              <a:rPr lang="ko-KR" altLang="en-US" sz="800" dirty="0"/>
              <a:t>의도</a:t>
            </a:r>
            <a:r>
              <a:rPr lang="en-US" altLang="ko-KR" sz="800" dirty="0"/>
              <a:t>/</a:t>
            </a:r>
            <a:r>
              <a:rPr lang="ko-KR" altLang="en-US" sz="800" dirty="0"/>
              <a:t>동의</a:t>
            </a:r>
            <a:r>
              <a:rPr lang="en-US" altLang="ko-KR" sz="800" dirty="0"/>
              <a:t>·</a:t>
            </a:r>
            <a:r>
              <a:rPr lang="ko-KR" altLang="en-US" sz="800" dirty="0"/>
              <a:t>반대 같은 비언어 정보가 손실됨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419EA5-331E-3175-71FB-F44A10C1F4BE}"/>
              </a:ext>
            </a:extLst>
          </p:cNvPr>
          <p:cNvSpPr txBox="1"/>
          <p:nvPr/>
        </p:nvSpPr>
        <p:spPr>
          <a:xfrm>
            <a:off x="422786" y="3318542"/>
            <a:ext cx="20352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- </a:t>
            </a:r>
            <a:r>
              <a:rPr lang="ko-KR" altLang="en-US" sz="800" dirty="0" err="1"/>
              <a:t>수어</a:t>
            </a:r>
            <a:r>
              <a:rPr lang="ko-KR" altLang="en-US" sz="800" dirty="0"/>
              <a:t> 통역사 </a:t>
            </a:r>
            <a:r>
              <a:rPr lang="en-US" altLang="ko-KR" sz="800" dirty="0"/>
              <a:t>(</a:t>
            </a:r>
            <a:r>
              <a:rPr lang="ko-KR" altLang="en-US" sz="800" dirty="0"/>
              <a:t>실시간 전달만 가능</a:t>
            </a:r>
            <a:r>
              <a:rPr lang="en-US" altLang="ko-KR" sz="800" dirty="0"/>
              <a:t>) </a:t>
            </a:r>
          </a:p>
          <a:p>
            <a:r>
              <a:rPr lang="en-US" altLang="ko-KR" sz="800" dirty="0"/>
              <a:t>- </a:t>
            </a:r>
            <a:r>
              <a:rPr lang="ko-KR" altLang="en-US" sz="800" dirty="0"/>
              <a:t>영상 녹화 </a:t>
            </a:r>
            <a:r>
              <a:rPr lang="en-US" altLang="ko-KR" sz="800" dirty="0"/>
              <a:t>(</a:t>
            </a:r>
            <a:r>
              <a:rPr lang="ko-KR" altLang="en-US" sz="800" dirty="0"/>
              <a:t>검색</a:t>
            </a:r>
            <a:r>
              <a:rPr lang="en-US" altLang="ko-KR" sz="800" dirty="0"/>
              <a:t>/</a:t>
            </a:r>
            <a:r>
              <a:rPr lang="ko-KR" altLang="en-US" sz="800" dirty="0"/>
              <a:t>요약 불가</a:t>
            </a:r>
            <a:r>
              <a:rPr lang="en-US" altLang="ko-KR" sz="800" dirty="0"/>
              <a:t>) </a:t>
            </a:r>
          </a:p>
          <a:p>
            <a:r>
              <a:rPr lang="en-US" altLang="ko-KR" sz="800" dirty="0"/>
              <a:t>- </a:t>
            </a:r>
            <a:r>
              <a:rPr lang="ko-KR" altLang="en-US" sz="800" dirty="0"/>
              <a:t>수기 회의록 </a:t>
            </a:r>
            <a:r>
              <a:rPr lang="en-US" altLang="ko-KR" sz="800" dirty="0"/>
              <a:t>(</a:t>
            </a:r>
            <a:r>
              <a:rPr lang="ko-KR" altLang="en-US" sz="800" dirty="0"/>
              <a:t>누락</a:t>
            </a:r>
            <a:r>
              <a:rPr lang="en-US" altLang="ko-KR" sz="800" dirty="0"/>
              <a:t>/</a:t>
            </a:r>
            <a:r>
              <a:rPr lang="ko-KR" altLang="en-US" sz="800" dirty="0"/>
              <a:t>왜곡</a:t>
            </a:r>
            <a:r>
              <a:rPr lang="en-US" altLang="ko-KR" sz="800" dirty="0"/>
              <a:t>) </a:t>
            </a:r>
          </a:p>
          <a:p>
            <a:r>
              <a:rPr lang="en-US" altLang="ko-KR" sz="800" dirty="0"/>
              <a:t>- </a:t>
            </a:r>
            <a:r>
              <a:rPr lang="ko-KR" altLang="en-US" sz="800" dirty="0"/>
              <a:t>음성 기반 회의록 서비스 </a:t>
            </a:r>
            <a:r>
              <a:rPr lang="en-US" altLang="ko-KR" sz="800" dirty="0"/>
              <a:t>(</a:t>
            </a:r>
            <a:r>
              <a:rPr lang="ko-KR" altLang="en-US" sz="800" dirty="0"/>
              <a:t>사용 불가</a:t>
            </a:r>
            <a:r>
              <a:rPr lang="en-US" altLang="ko-KR" sz="800" dirty="0"/>
              <a:t>/</a:t>
            </a:r>
            <a:r>
              <a:rPr lang="ko-KR" altLang="en-US" sz="800" dirty="0"/>
              <a:t>음성 처리 과정에서의 논의 지연</a:t>
            </a:r>
            <a:r>
              <a:rPr lang="en-US" altLang="ko-KR" sz="800" dirty="0"/>
              <a:t>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84E196-F7F0-76CA-D57E-1B1150142DED}"/>
              </a:ext>
            </a:extLst>
          </p:cNvPr>
          <p:cNvSpPr txBox="1"/>
          <p:nvPr/>
        </p:nvSpPr>
        <p:spPr>
          <a:xfrm>
            <a:off x="2635044" y="980267"/>
            <a:ext cx="26055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800" b="1" dirty="0"/>
              <a:t>도메인 특화 </a:t>
            </a:r>
            <a:r>
              <a:rPr lang="en-US" altLang="ko-KR" sz="800" b="1" dirty="0"/>
              <a:t>+ </a:t>
            </a:r>
            <a:r>
              <a:rPr lang="ko-KR" altLang="en-US" sz="800" b="1" dirty="0" err="1"/>
              <a:t>멀티모달</a:t>
            </a:r>
            <a:r>
              <a:rPr lang="ko-KR" altLang="en-US" sz="800" b="1" dirty="0"/>
              <a:t> 기반 </a:t>
            </a:r>
            <a:endParaRPr lang="en-US" altLang="ko-KR" sz="800" b="1" dirty="0"/>
          </a:p>
          <a:p>
            <a:pPr>
              <a:buNone/>
            </a:pPr>
            <a:r>
              <a:rPr lang="ko-KR" altLang="en-US" sz="800" b="1" dirty="0"/>
              <a:t>수화 회의 데이터화 </a:t>
            </a:r>
            <a:r>
              <a:rPr lang="en-US" altLang="ko-KR" sz="800" b="1" dirty="0"/>
              <a:t>SaaS</a:t>
            </a:r>
            <a:endParaRPr lang="ko-KR" altLang="en-US" sz="800" dirty="0"/>
          </a:p>
          <a:p>
            <a:r>
              <a:rPr lang="en-US" altLang="ko-KR" sz="800" dirty="0"/>
              <a:t>- </a:t>
            </a:r>
            <a:r>
              <a:rPr lang="ko-KR" altLang="en-US" sz="800" dirty="0"/>
              <a:t>손동작 </a:t>
            </a:r>
            <a:r>
              <a:rPr lang="en-US" altLang="ko-KR" sz="800" dirty="0"/>
              <a:t>+ </a:t>
            </a:r>
            <a:r>
              <a:rPr lang="ko-KR" altLang="en-US" sz="800" dirty="0"/>
              <a:t>표정</a:t>
            </a:r>
            <a:r>
              <a:rPr lang="en-US" altLang="ko-KR" sz="800" dirty="0"/>
              <a:t>(</a:t>
            </a:r>
            <a:r>
              <a:rPr lang="ko-KR" altLang="en-US" sz="800" dirty="0"/>
              <a:t>비수지 신호</a:t>
            </a:r>
            <a:r>
              <a:rPr lang="en-US" altLang="ko-KR" sz="800" dirty="0"/>
              <a:t>) </a:t>
            </a:r>
            <a:r>
              <a:rPr lang="ko-KR" altLang="en-US" sz="800" dirty="0"/>
              <a:t>기반 </a:t>
            </a:r>
            <a:r>
              <a:rPr lang="ko-KR" altLang="en-US" sz="800" b="1" dirty="0"/>
              <a:t>부분적 의도 추출</a:t>
            </a:r>
            <a:r>
              <a:rPr lang="ko-KR" altLang="en-US" sz="800" dirty="0"/>
              <a:t> </a:t>
            </a:r>
          </a:p>
          <a:p>
            <a:r>
              <a:rPr lang="en-US" altLang="ko-KR" sz="800" dirty="0"/>
              <a:t>- </a:t>
            </a:r>
            <a:r>
              <a:rPr lang="ko-KR" altLang="en-US" sz="800" dirty="0"/>
              <a:t>도메인 제한 수화 인식 </a:t>
            </a:r>
            <a:r>
              <a:rPr lang="en-US" altLang="ko-KR" sz="800" dirty="0"/>
              <a:t>(</a:t>
            </a:r>
            <a:r>
              <a:rPr lang="ko-KR" altLang="en-US" sz="800" dirty="0"/>
              <a:t>예</a:t>
            </a:r>
            <a:r>
              <a:rPr lang="en-US" altLang="ko-KR" sz="800" dirty="0"/>
              <a:t>: </a:t>
            </a:r>
            <a:r>
              <a:rPr lang="ko-KR" altLang="en-US" sz="800" dirty="0"/>
              <a:t>회의</a:t>
            </a:r>
            <a:r>
              <a:rPr lang="en-US" altLang="ko-KR" sz="800" dirty="0"/>
              <a:t>/</a:t>
            </a:r>
            <a:r>
              <a:rPr lang="ko-KR" altLang="en-US" sz="800" dirty="0"/>
              <a:t>업무 용어 중심</a:t>
            </a:r>
            <a:r>
              <a:rPr lang="en-US" altLang="ko-KR" sz="800" dirty="0"/>
              <a:t>) </a:t>
            </a:r>
          </a:p>
          <a:p>
            <a:r>
              <a:rPr lang="en-US" altLang="ko-KR" sz="800" dirty="0"/>
              <a:t>- </a:t>
            </a:r>
            <a:r>
              <a:rPr lang="ko-KR" altLang="en-US" sz="800" dirty="0"/>
              <a:t>회의 요약 </a:t>
            </a:r>
            <a:r>
              <a:rPr lang="en-US" altLang="ko-KR" sz="800" dirty="0"/>
              <a:t>+ </a:t>
            </a:r>
            <a:r>
              <a:rPr lang="ko-KR" altLang="en-US" sz="800" dirty="0"/>
              <a:t>액션 아이템 자동 생성 </a:t>
            </a:r>
          </a:p>
          <a:p>
            <a:r>
              <a:rPr lang="en-US" altLang="ko-KR" sz="800" dirty="0"/>
              <a:t>- </a:t>
            </a:r>
            <a:r>
              <a:rPr lang="ko-KR" altLang="en-US" sz="800" dirty="0"/>
              <a:t>동의</a:t>
            </a:r>
            <a:r>
              <a:rPr lang="en-US" altLang="ko-KR" sz="800" dirty="0"/>
              <a:t>/</a:t>
            </a:r>
            <a:r>
              <a:rPr lang="ko-KR" altLang="en-US" sz="800" dirty="0"/>
              <a:t>반대</a:t>
            </a:r>
            <a:r>
              <a:rPr lang="en-US" altLang="ko-KR" sz="800" dirty="0"/>
              <a:t>/</a:t>
            </a:r>
            <a:r>
              <a:rPr lang="ko-KR" altLang="en-US" sz="800" dirty="0"/>
              <a:t>강조 패턴 기반 구조 분석 </a:t>
            </a:r>
          </a:p>
          <a:p>
            <a:r>
              <a:rPr lang="en-US" altLang="ko-KR" sz="800" dirty="0"/>
              <a:t>- </a:t>
            </a:r>
            <a:r>
              <a:rPr lang="ko-KR" altLang="en-US" sz="800" dirty="0"/>
              <a:t>사용자 수정 기반 </a:t>
            </a:r>
            <a:r>
              <a:rPr lang="en-US" altLang="ko-KR" sz="800" b="1" dirty="0"/>
              <a:t>Human-in-the-loop </a:t>
            </a:r>
            <a:r>
              <a:rPr lang="ko-KR" altLang="en-US" sz="800" b="1" dirty="0"/>
              <a:t>학습 구조</a:t>
            </a:r>
            <a:endParaRPr lang="ko-KR" altLang="en-US" sz="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3DB652-7EB2-9850-7545-385272BC0F5A}"/>
              </a:ext>
            </a:extLst>
          </p:cNvPr>
          <p:cNvSpPr txBox="1"/>
          <p:nvPr/>
        </p:nvSpPr>
        <p:spPr>
          <a:xfrm>
            <a:off x="5127523" y="1449635"/>
            <a:ext cx="19369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800" b="1" dirty="0"/>
              <a:t>“수화 회의를 기록하는 것이 아니라</a:t>
            </a:r>
            <a:r>
              <a:rPr lang="en-US" altLang="ko-KR" sz="800" b="1" dirty="0"/>
              <a:t>, </a:t>
            </a:r>
            <a:r>
              <a:rPr lang="ko-KR" altLang="en-US" sz="800" b="1" dirty="0"/>
              <a:t>의사결정을 데이터로 만든다”</a:t>
            </a:r>
            <a:endParaRPr lang="ko-KR" altLang="en-US" sz="800" dirty="0"/>
          </a:p>
          <a:p>
            <a:r>
              <a:rPr lang="en-US" altLang="ko-KR" sz="800" dirty="0"/>
              <a:t>- </a:t>
            </a:r>
            <a:r>
              <a:rPr lang="ko-KR" altLang="en-US" sz="800" dirty="0"/>
              <a:t>텍스트 회의록 ❌ </a:t>
            </a:r>
          </a:p>
          <a:p>
            <a:r>
              <a:rPr lang="en-US" altLang="ko-KR" sz="800" b="1" dirty="0"/>
              <a:t>- </a:t>
            </a:r>
            <a:r>
              <a:rPr lang="ko-KR" altLang="en-US" sz="800" b="1" dirty="0"/>
              <a:t>의도</a:t>
            </a:r>
            <a:r>
              <a:rPr lang="en-US" altLang="ko-KR" sz="800" b="1" dirty="0"/>
              <a:t>·</a:t>
            </a:r>
            <a:r>
              <a:rPr lang="ko-KR" altLang="en-US" sz="800" b="1" dirty="0"/>
              <a:t>강조</a:t>
            </a:r>
            <a:r>
              <a:rPr lang="en-US" altLang="ko-KR" sz="800" b="1" dirty="0"/>
              <a:t>·</a:t>
            </a:r>
            <a:r>
              <a:rPr lang="ko-KR" altLang="en-US" sz="800" b="1" dirty="0"/>
              <a:t>합의 흐름</a:t>
            </a:r>
            <a:r>
              <a:rPr lang="en-US" altLang="ko-KR" sz="800" b="1" dirty="0"/>
              <a:t>(</a:t>
            </a:r>
            <a:r>
              <a:rPr lang="ko-KR" altLang="en-US" sz="800" b="1" dirty="0"/>
              <a:t>회의의 문맥을 전체적으로</a:t>
            </a:r>
            <a:r>
              <a:rPr lang="en-US" altLang="ko-KR" sz="800" b="1" dirty="0"/>
              <a:t>)</a:t>
            </a:r>
            <a:r>
              <a:rPr lang="ko-KR" altLang="en-US" sz="800" b="1" dirty="0"/>
              <a:t>까지 남기는 회의 분석 ⭕</a:t>
            </a:r>
            <a:endParaRPr lang="ko-KR" altLang="en-US" sz="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F9FF7B-B1AE-26D1-1EEE-1FA5ABA11B8D}"/>
              </a:ext>
            </a:extLst>
          </p:cNvPr>
          <p:cNvSpPr txBox="1"/>
          <p:nvPr/>
        </p:nvSpPr>
        <p:spPr>
          <a:xfrm>
            <a:off x="7355018" y="1073918"/>
            <a:ext cx="20937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도메인 특화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수어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사전 (회의/업무 중심)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 수정 → 모델 개선으로 이어지는 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RLHF 구조</a:t>
            </a:r>
            <a:r>
              <a:rPr lang="en-US" altLang="ko-KR" sz="800" dirty="0">
                <a:latin typeface="Arial" panose="020B0604020202020204" pitchFamily="34" charset="0"/>
              </a:rPr>
              <a:t>(Reinforcement Learning from Human Feedback, </a:t>
            </a:r>
            <a:r>
              <a:rPr lang="ko-KR" altLang="en-US" sz="800" dirty="0">
                <a:latin typeface="Arial" panose="020B0604020202020204" pitchFamily="34" charset="0"/>
              </a:rPr>
              <a:t>인간 피드백 기반 강화학습</a:t>
            </a:r>
            <a:r>
              <a:rPr lang="en-US" altLang="ko-KR" sz="800" dirty="0">
                <a:latin typeface="Arial" panose="020B0604020202020204" pitchFamily="34" charset="0"/>
              </a:rPr>
              <a:t>)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수화 데이터 + 사용 로그 축적 → 진입장벽 형성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초기 공공기관/기업 레퍼런스 확보 시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락인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효과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8B752E-696D-58D5-9B29-DCCF1EC04793}"/>
              </a:ext>
            </a:extLst>
          </p:cNvPr>
          <p:cNvSpPr txBox="1"/>
          <p:nvPr/>
        </p:nvSpPr>
        <p:spPr>
          <a:xfrm>
            <a:off x="2635044" y="3114649"/>
            <a:ext cx="21630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회의 기록 시간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절감률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Correction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사용자 수정 비율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Intent</a:t>
            </a:r>
            <a:r>
              <a:rPr kumimoji="0" lang="ko-KR" altLang="ko-KR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핵심 의도 추출 정확도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회의록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재사용률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(검색/참조 비율)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유지율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Retention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6AC7DC-FF3B-F6C1-3460-DBF29903A1CD}"/>
              </a:ext>
            </a:extLst>
          </p:cNvPr>
          <p:cNvSpPr txBox="1"/>
          <p:nvPr/>
        </p:nvSpPr>
        <p:spPr>
          <a:xfrm>
            <a:off x="7393860" y="3075057"/>
            <a:ext cx="19566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800" dirty="0"/>
              <a:t>공공기관 </a:t>
            </a:r>
            <a:r>
              <a:rPr lang="en-US" altLang="ko-KR" sz="800" dirty="0"/>
              <a:t>PoC (</a:t>
            </a:r>
            <a:r>
              <a:rPr lang="ko-KR" altLang="en-US" sz="800" dirty="0"/>
              <a:t>지자체</a:t>
            </a:r>
            <a:r>
              <a:rPr lang="en-US" altLang="ko-KR" sz="800" dirty="0"/>
              <a:t>, </a:t>
            </a:r>
            <a:r>
              <a:rPr lang="ko-KR" altLang="en-US" sz="800" dirty="0"/>
              <a:t>복지관</a:t>
            </a:r>
            <a:r>
              <a:rPr lang="en-US" altLang="ko-KR" sz="800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800" dirty="0"/>
              <a:t>ESG/CSR </a:t>
            </a:r>
            <a:r>
              <a:rPr lang="ko-KR" altLang="en-US" sz="800" dirty="0"/>
              <a:t>추진 기업 대상 </a:t>
            </a:r>
            <a:r>
              <a:rPr lang="en-US" altLang="ko-KR" sz="800" dirty="0"/>
              <a:t>B2B </a:t>
            </a:r>
            <a:r>
              <a:rPr lang="ko-KR" altLang="en-US" sz="800" dirty="0"/>
              <a:t>세일즈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dirty="0"/>
              <a:t>특수학교 </a:t>
            </a:r>
            <a:r>
              <a:rPr lang="en-US" altLang="ko-KR" sz="800" dirty="0"/>
              <a:t>/ </a:t>
            </a:r>
            <a:r>
              <a:rPr lang="ko-KR" altLang="en-US" sz="800" dirty="0"/>
              <a:t>대학 협업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dirty="0"/>
              <a:t>장애인 관련 협회 및 네트워크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dirty="0"/>
              <a:t>정부 지원 사업 </a:t>
            </a:r>
            <a:r>
              <a:rPr lang="en-US" altLang="ko-KR" sz="800" dirty="0"/>
              <a:t>(</a:t>
            </a:r>
            <a:r>
              <a:rPr lang="ko-KR" altLang="en-US" sz="800" dirty="0"/>
              <a:t>디지털 포용</a:t>
            </a:r>
            <a:r>
              <a:rPr lang="en-US" altLang="ko-KR" sz="800" dirty="0"/>
              <a:t>)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4AF98B-6E95-9A4C-1F55-8D477008202F}"/>
              </a:ext>
            </a:extLst>
          </p:cNvPr>
          <p:cNvSpPr txBox="1"/>
          <p:nvPr/>
        </p:nvSpPr>
        <p:spPr>
          <a:xfrm>
            <a:off x="9687723" y="1311135"/>
            <a:ext cx="1956617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800" b="1" dirty="0"/>
              <a:t>User (</a:t>
            </a:r>
            <a:r>
              <a:rPr lang="ko-KR" altLang="en-US" sz="800" b="1" dirty="0"/>
              <a:t>사용자</a:t>
            </a:r>
            <a:r>
              <a:rPr lang="en-US" altLang="ko-KR" sz="8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dirty="0"/>
              <a:t>농인 </a:t>
            </a:r>
            <a:r>
              <a:rPr lang="en-US" altLang="ko-KR" sz="800" dirty="0"/>
              <a:t>/ </a:t>
            </a:r>
            <a:r>
              <a:rPr lang="ko-KR" altLang="en-US" sz="800" dirty="0" err="1"/>
              <a:t>수어</a:t>
            </a:r>
            <a:r>
              <a:rPr lang="ko-KR" altLang="en-US" sz="800" dirty="0"/>
              <a:t> 사용자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dirty="0" err="1"/>
              <a:t>수어</a:t>
            </a:r>
            <a:r>
              <a:rPr lang="ko-KR" altLang="en-US" sz="800" dirty="0"/>
              <a:t> 기반 회의를 진행하는 조직 </a:t>
            </a:r>
          </a:p>
          <a:p>
            <a:pPr>
              <a:buNone/>
            </a:pPr>
            <a:r>
              <a:rPr lang="ko-KR" altLang="en-US" sz="800" b="1" dirty="0"/>
              <a:t> </a:t>
            </a:r>
            <a:r>
              <a:rPr lang="en-US" altLang="ko-KR" sz="800" b="1" dirty="0"/>
              <a:t>Buyer (</a:t>
            </a:r>
            <a:r>
              <a:rPr lang="ko-KR" altLang="en-US" sz="800" b="1" dirty="0"/>
              <a:t>지불 주체</a:t>
            </a:r>
            <a:r>
              <a:rPr lang="en-US" altLang="ko-KR" sz="8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800" dirty="0"/>
              <a:t>ESG/CSR </a:t>
            </a:r>
            <a:r>
              <a:rPr lang="ko-KR" altLang="en-US" sz="800" dirty="0"/>
              <a:t>담당 기업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dirty="0"/>
              <a:t>공공기관 </a:t>
            </a:r>
            <a:r>
              <a:rPr lang="en-US" altLang="ko-KR" sz="800" dirty="0"/>
              <a:t>(</a:t>
            </a:r>
            <a:r>
              <a:rPr lang="ko-KR" altLang="en-US" sz="800" dirty="0"/>
              <a:t>복지</a:t>
            </a:r>
            <a:r>
              <a:rPr lang="en-US" altLang="ko-KR" sz="800" dirty="0"/>
              <a:t>, </a:t>
            </a:r>
            <a:r>
              <a:rPr lang="ko-KR" altLang="en-US" sz="800" dirty="0"/>
              <a:t>행정</a:t>
            </a:r>
            <a:r>
              <a:rPr lang="en-US" altLang="ko-KR" sz="800" dirty="0"/>
              <a:t>, </a:t>
            </a:r>
            <a:r>
              <a:rPr lang="ko-KR" altLang="en-US" sz="800" dirty="0"/>
              <a:t>민원 부서</a:t>
            </a:r>
            <a:r>
              <a:rPr lang="en-US" altLang="ko-KR" sz="800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dirty="0"/>
              <a:t>장애인 고용 기업 </a:t>
            </a:r>
            <a:endParaRPr lang="en-US" altLang="ko-KR" sz="800" dirty="0"/>
          </a:p>
          <a:p>
            <a:pPr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>
              <a:buFont typeface="Arial" panose="020B0604020202020204" pitchFamily="34" charset="0"/>
              <a:buChar char="•"/>
            </a:pPr>
            <a:endParaRPr lang="en-US" altLang="ko-KR" sz="8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dirty="0" err="1"/>
              <a:t>수어</a:t>
            </a:r>
            <a:r>
              <a:rPr lang="ko-KR" altLang="en-US" sz="800" dirty="0"/>
              <a:t> 통역 포함 회의 운영 조직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dirty="0"/>
              <a:t>복지기관 </a:t>
            </a:r>
            <a:r>
              <a:rPr lang="en-US" altLang="ko-KR" sz="800" dirty="0"/>
              <a:t>/ </a:t>
            </a:r>
            <a:r>
              <a:rPr lang="ko-KR" altLang="en-US" sz="800" dirty="0"/>
              <a:t>청각장애 지원센터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800" dirty="0"/>
              <a:t>ESG </a:t>
            </a:r>
            <a:r>
              <a:rPr lang="ko-KR" altLang="en-US" sz="800" dirty="0"/>
              <a:t>공시 대응 중인 기업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2F03D3-3A6E-A3BE-2C10-849EEB047992}"/>
              </a:ext>
            </a:extLst>
          </p:cNvPr>
          <p:cNvSpPr txBox="1"/>
          <p:nvPr/>
        </p:nvSpPr>
        <p:spPr>
          <a:xfrm>
            <a:off x="422786" y="5054422"/>
            <a:ext cx="23508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800" dirty="0"/>
              <a:t>AI </a:t>
            </a:r>
            <a:r>
              <a:rPr lang="ko-KR" altLang="en-US" sz="800" dirty="0"/>
              <a:t>모델 개발 </a:t>
            </a:r>
            <a:r>
              <a:rPr lang="en-US" altLang="ko-KR" sz="800" dirty="0"/>
              <a:t>(</a:t>
            </a:r>
            <a:r>
              <a:rPr lang="ko-KR" altLang="en-US" sz="800" dirty="0"/>
              <a:t>수화 인식 </a:t>
            </a:r>
            <a:r>
              <a:rPr lang="en-US" altLang="ko-KR" sz="800" dirty="0"/>
              <a:t>+ </a:t>
            </a:r>
            <a:r>
              <a:rPr lang="ko-KR" altLang="en-US" sz="800" dirty="0"/>
              <a:t>의도 추출</a:t>
            </a:r>
            <a:r>
              <a:rPr lang="en-US" altLang="ko-KR" sz="800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dirty="0"/>
              <a:t>영상 처리 인프라 </a:t>
            </a:r>
            <a:r>
              <a:rPr lang="en-US" altLang="ko-KR" sz="800" dirty="0"/>
              <a:t>(GPU/</a:t>
            </a:r>
            <a:r>
              <a:rPr lang="ko-KR" altLang="en-US" sz="800" dirty="0"/>
              <a:t>서버</a:t>
            </a:r>
            <a:r>
              <a:rPr lang="en-US" altLang="ko-KR" sz="800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dirty="0"/>
              <a:t>데이터 </a:t>
            </a:r>
            <a:r>
              <a:rPr lang="ko-KR" altLang="en-US" sz="800" dirty="0" err="1"/>
              <a:t>라벨링</a:t>
            </a:r>
            <a:r>
              <a:rPr lang="ko-KR" altLang="en-US" sz="800" dirty="0"/>
              <a:t> 및 검수 비용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800" dirty="0"/>
              <a:t>프론트</a:t>
            </a:r>
            <a:r>
              <a:rPr lang="en-US" altLang="ko-KR" sz="800" dirty="0"/>
              <a:t>/</a:t>
            </a:r>
            <a:r>
              <a:rPr lang="ko-KR" altLang="en-US" sz="800" dirty="0" err="1"/>
              <a:t>백엔드</a:t>
            </a:r>
            <a:r>
              <a:rPr lang="ko-KR" altLang="en-US" sz="800" dirty="0"/>
              <a:t> 개발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800" dirty="0"/>
              <a:t>PoC </a:t>
            </a:r>
            <a:r>
              <a:rPr lang="ko-KR" altLang="en-US" sz="800" dirty="0"/>
              <a:t>및 초기 영업 비용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61D337-B243-D46C-FE20-6C3CAEB2AAAA}"/>
              </a:ext>
            </a:extLst>
          </p:cNvPr>
          <p:cNvSpPr txBox="1"/>
          <p:nvPr/>
        </p:nvSpPr>
        <p:spPr>
          <a:xfrm>
            <a:off x="6370320" y="4992866"/>
            <a:ext cx="487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B2B </a:t>
            </a:r>
            <a:r>
              <a:rPr kumimoji="0" lang="ko-KR" altLang="ko-KR" sz="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SaaS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구독 (기관 단위 과금)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공공기관 납품 / 프로젝트 계약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분석 API 제공 (추후 확장)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 기반 리포트 제공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ESG/접근성 컨설팅 패키지 </a:t>
            </a:r>
          </a:p>
        </p:txBody>
      </p:sp>
    </p:spTree>
    <p:extLst>
      <p:ext uri="{BB962C8B-B14F-4D97-AF65-F5344CB8AC3E}">
        <p14:creationId xmlns:p14="http://schemas.microsoft.com/office/powerpoint/2010/main" val="280340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76247FB-EE1A-F824-117B-B1BCBE07F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523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399</Words>
  <Application>Microsoft Office PowerPoint</Application>
  <PresentationFormat>와이드스크린</PresentationFormat>
  <Paragraphs>66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김현지</dc:creator>
  <cp:lastModifiedBy>김현지</cp:lastModifiedBy>
  <cp:revision>3</cp:revision>
  <dcterms:created xsi:type="dcterms:W3CDTF">2026-05-04T04:06:07Z</dcterms:created>
  <dcterms:modified xsi:type="dcterms:W3CDTF">2026-05-04T04:40:47Z</dcterms:modified>
</cp:coreProperties>
</file>